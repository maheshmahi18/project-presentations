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70" r:id="rId3"/>
    <p:sldId id="268" r:id="rId4"/>
    <p:sldId id="269" r:id="rId5"/>
    <p:sldId id="264" r:id="rId6"/>
    <p:sldId id="266" r:id="rId7"/>
    <p:sldId id="267" r:id="rId8"/>
    <p:sldId id="260" r:id="rId9"/>
    <p:sldId id="263" r:id="rId10"/>
    <p:sldId id="261" r:id="rId11"/>
    <p:sldId id="262" r:id="rId12"/>
    <p:sldId id="257" r:id="rId13"/>
    <p:sldId id="258" r:id="rId14"/>
    <p:sldId id="259" r:id="rId15"/>
    <p:sldId id="265"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D03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B680BD-1F16-4EA4-8C42-B375D056C2CB}" v="33" dt="2021-07-09T14:13:40.9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94" autoAdjust="0"/>
    <p:restoredTop sz="94660"/>
  </p:normalViewPr>
  <p:slideViewPr>
    <p:cSldViewPr>
      <p:cViewPr varScale="1">
        <p:scale>
          <a:sx n="68" d="100"/>
          <a:sy n="68" d="100"/>
        </p:scale>
        <p:origin x="-1458"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esh Chowdary" userId="438a3ffe85f3f198" providerId="Windows Live" clId="Web-{EBB680BD-1F16-4EA4-8C42-B375D056C2CB}"/>
    <pc:docChg chg="modSld">
      <pc:chgData name="Mahesh Chowdary" userId="438a3ffe85f3f198" providerId="Windows Live" clId="Web-{EBB680BD-1F16-4EA4-8C42-B375D056C2CB}" dt="2021-07-09T14:13:38.678" v="17" actId="20577"/>
      <pc:docMkLst>
        <pc:docMk/>
      </pc:docMkLst>
      <pc:sldChg chg="modSp">
        <pc:chgData name="Mahesh Chowdary" userId="438a3ffe85f3f198" providerId="Windows Live" clId="Web-{EBB680BD-1F16-4EA4-8C42-B375D056C2CB}" dt="2021-07-09T14:13:38.678" v="17" actId="20577"/>
        <pc:sldMkLst>
          <pc:docMk/>
          <pc:sldMk cId="0" sldId="256"/>
        </pc:sldMkLst>
        <pc:spChg chg="mod">
          <ac:chgData name="Mahesh Chowdary" userId="438a3ffe85f3f198" providerId="Windows Live" clId="Web-{EBB680BD-1F16-4EA4-8C42-B375D056C2CB}" dt="2021-07-09T14:13:38.678" v="17" actId="20577"/>
          <ac:spMkLst>
            <pc:docMk/>
            <pc:sldMk cId="0" sldId="256"/>
            <ac:spMk id="3" creationId="{00000000-0000-0000-0000-000000000000}"/>
          </ac:spMkLst>
        </pc:spChg>
      </pc:sldChg>
      <pc:sldChg chg="modSp">
        <pc:chgData name="Mahesh Chowdary" userId="438a3ffe85f3f198" providerId="Windows Live" clId="Web-{EBB680BD-1F16-4EA4-8C42-B375D056C2CB}" dt="2021-07-09T14:12:19.254" v="1" actId="20577"/>
        <pc:sldMkLst>
          <pc:docMk/>
          <pc:sldMk cId="0" sldId="264"/>
        </pc:sldMkLst>
        <pc:spChg chg="mod">
          <ac:chgData name="Mahesh Chowdary" userId="438a3ffe85f3f198" providerId="Windows Live" clId="Web-{EBB680BD-1F16-4EA4-8C42-B375D056C2CB}" dt="2021-07-09T14:12:19.254" v="1" actId="20577"/>
          <ac:spMkLst>
            <pc:docMk/>
            <pc:sldMk cId="0" sldId="264"/>
            <ac:spMk id="6"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pPr/>
              <a:t>7/9/2021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392358259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pPr/>
              <a:t>7/9/2021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3467707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pPr/>
              <a:t>7/9/2021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416163255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pPr/>
              <a:t>7/9/2021</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4209003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pPr/>
              <a:t>7/9/2021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92021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pPr/>
              <a:t>7/9/2021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3498170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pPr/>
              <a:t>7/9/2021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2713544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pPr/>
              <a:t>7/9/2021</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2559727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pPr/>
              <a:t>7/9/2021</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3033617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pPr/>
              <a:t>7/9/2021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1561590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pPr/>
              <a:t>7/9/2021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25781707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pPr/>
              <a:t>7/9/2021</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extLst>
      <p:ext uri="{BB962C8B-B14F-4D97-AF65-F5344CB8AC3E}">
        <p14:creationId xmlns:p14="http://schemas.microsoft.com/office/powerpoint/2010/main" val="282043122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2910" y="357166"/>
            <a:ext cx="7772400" cy="2143139"/>
          </a:xfrm>
        </p:spPr>
        <p:txBody>
          <a:bodyPr>
            <a:noAutofit/>
          </a:bodyPr>
          <a:lstStyle/>
          <a:p>
            <a:pPr algn="ctr"/>
            <a:r>
              <a:rPr lang="en-US" sz="4800" b="1" dirty="0">
                <a:solidFill>
                  <a:schemeClr val="accent3">
                    <a:lumMod val="75000"/>
                  </a:schemeClr>
                </a:solidFill>
                <a:latin typeface="Times New Roman" pitchFamily="18" charset="0"/>
                <a:cs typeface="Times New Roman" pitchFamily="18" charset="0"/>
              </a:rPr>
              <a:t>ENGINEERING MATHEMATICS MINI PROJECT </a:t>
            </a:r>
          </a:p>
        </p:txBody>
      </p:sp>
      <p:sp>
        <p:nvSpPr>
          <p:cNvPr id="3" name="Subtitle 2"/>
          <p:cNvSpPr>
            <a:spLocks noGrp="1"/>
          </p:cNvSpPr>
          <p:nvPr>
            <p:ph type="subTitle" idx="1"/>
          </p:nvPr>
        </p:nvSpPr>
        <p:spPr>
          <a:xfrm>
            <a:off x="1994830" y="2786058"/>
            <a:ext cx="2912746" cy="2579077"/>
          </a:xfrm>
        </p:spPr>
        <p:txBody>
          <a:bodyPr vert="horz" lIns="91440" tIns="45720" rIns="91440" bIns="45720" rtlCol="0" anchor="t">
            <a:normAutofit fontScale="85000" lnSpcReduction="20000"/>
          </a:bodyPr>
          <a:lstStyle/>
          <a:p>
            <a:pPr algn="l"/>
            <a:r>
              <a:rPr lang="en-US" sz="2800" dirty="0">
                <a:solidFill>
                  <a:srgbClr val="FF0000"/>
                </a:solidFill>
              </a:rPr>
              <a:t>PRESENTED BY</a:t>
            </a:r>
            <a:endParaRPr lang="en-US"/>
          </a:p>
          <a:p>
            <a:endParaRPr lang="en-US" sz="2800" dirty="0">
              <a:solidFill>
                <a:srgbClr val="FF0000"/>
              </a:solidFill>
            </a:endParaRPr>
          </a:p>
          <a:p>
            <a:pPr algn="l"/>
            <a:r>
              <a:rPr lang="en-US" sz="2800" dirty="0">
                <a:solidFill>
                  <a:schemeClr val="bg1"/>
                </a:solidFill>
              </a:rPr>
              <a:t>Mahesh </a:t>
            </a:r>
            <a:r>
              <a:rPr lang="en-US" sz="2800" dirty="0" err="1">
                <a:solidFill>
                  <a:schemeClr val="bg1"/>
                </a:solidFill>
              </a:rPr>
              <a:t>kumar</a:t>
            </a:r>
            <a:r>
              <a:rPr lang="en-US" sz="2800" dirty="0">
                <a:solidFill>
                  <a:schemeClr val="bg1"/>
                </a:solidFill>
              </a:rPr>
              <a:t>  G </a:t>
            </a:r>
          </a:p>
          <a:p>
            <a:pPr algn="l"/>
            <a:r>
              <a:rPr lang="en-US" sz="2800" dirty="0">
                <a:solidFill>
                  <a:schemeClr val="bg1"/>
                </a:solidFill>
              </a:rPr>
              <a:t>Janarthanan      B</a:t>
            </a:r>
          </a:p>
          <a:p>
            <a:pPr algn="l"/>
            <a:r>
              <a:rPr lang="en-US" sz="2800" dirty="0">
                <a:solidFill>
                  <a:schemeClr val="bg1"/>
                </a:solidFill>
              </a:rPr>
              <a:t>Janardhanan      J</a:t>
            </a:r>
          </a:p>
          <a:p>
            <a:pPr algn="l"/>
            <a:r>
              <a:rPr lang="en-US" sz="2800" dirty="0">
                <a:solidFill>
                  <a:schemeClr val="bg1"/>
                </a:solidFill>
              </a:rPr>
              <a:t>Karthikeyan      S</a:t>
            </a:r>
          </a:p>
        </p:txBody>
      </p:sp>
      <p:sp>
        <p:nvSpPr>
          <p:cNvPr id="4" name="TextBox 3"/>
          <p:cNvSpPr txBox="1"/>
          <p:nvPr/>
        </p:nvSpPr>
        <p:spPr>
          <a:xfrm>
            <a:off x="6286512" y="5143512"/>
            <a:ext cx="2286016" cy="1200329"/>
          </a:xfrm>
          <a:prstGeom prst="rect">
            <a:avLst/>
          </a:prstGeom>
          <a:noFill/>
        </p:spPr>
        <p:txBody>
          <a:bodyPr wrap="square" rtlCol="0">
            <a:spAutoFit/>
          </a:bodyPr>
          <a:lstStyle/>
          <a:p>
            <a:r>
              <a:rPr lang="en-US" dirty="0">
                <a:solidFill>
                  <a:srgbClr val="FF0000"/>
                </a:solidFill>
              </a:rPr>
              <a:t>MENTORS</a:t>
            </a:r>
          </a:p>
          <a:p>
            <a:endParaRPr lang="en-US" dirty="0">
              <a:solidFill>
                <a:srgbClr val="FF0000"/>
              </a:solidFill>
            </a:endParaRPr>
          </a:p>
          <a:p>
            <a:r>
              <a:rPr lang="en-US" dirty="0" err="1">
                <a:solidFill>
                  <a:schemeClr val="bg1"/>
                </a:solidFill>
              </a:rPr>
              <a:t>DR.K.A.Selvakumaran</a:t>
            </a:r>
            <a:endParaRPr lang="en-US" dirty="0">
              <a:solidFill>
                <a:schemeClr val="bg1"/>
              </a:solidFill>
            </a:endParaRPr>
          </a:p>
          <a:p>
            <a:r>
              <a:rPr lang="en-US" dirty="0" err="1">
                <a:solidFill>
                  <a:schemeClr val="bg1"/>
                </a:solidFill>
              </a:rPr>
              <a:t>A.K.Arulmozhi</a:t>
            </a:r>
            <a:endParaRPr lang="en-US"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214554"/>
            <a:ext cx="8643998" cy="1714512"/>
          </a:xfrm>
        </p:spPr>
        <p:txBody>
          <a:bodyPr>
            <a:noAutofit/>
          </a:bodyPr>
          <a:lstStyle/>
          <a:p>
            <a:r>
              <a:rPr lang="en-US" sz="4800" b="1" dirty="0">
                <a:solidFill>
                  <a:schemeClr val="accent3">
                    <a:lumMod val="75000"/>
                  </a:schemeClr>
                </a:solidFill>
                <a:latin typeface="Times New Roman" pitchFamily="18" charset="0"/>
                <a:cs typeface="Times New Roman" pitchFamily="18" charset="0"/>
              </a:rPr>
              <a:t>APPLICATION COMPLEX INTEGRATION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46).png"/>
          <p:cNvPicPr>
            <a:picLocks noChangeAspect="1"/>
          </p:cNvPicPr>
          <p:nvPr/>
        </p:nvPicPr>
        <p:blipFill>
          <a:blip r:embed="rId2"/>
          <a:srcRect l="18205" t="38883" r="19531" b="20399"/>
          <a:stretch>
            <a:fillRect/>
          </a:stretch>
        </p:blipFill>
        <p:spPr>
          <a:xfrm>
            <a:off x="1285852" y="3981304"/>
            <a:ext cx="6572296" cy="2876696"/>
          </a:xfrm>
          <a:prstGeom prst="rect">
            <a:avLst/>
          </a:prstGeom>
        </p:spPr>
      </p:pic>
      <p:sp>
        <p:nvSpPr>
          <p:cNvPr id="5" name="TextBox 4"/>
          <p:cNvSpPr txBox="1"/>
          <p:nvPr/>
        </p:nvSpPr>
        <p:spPr>
          <a:xfrm>
            <a:off x="571472" y="1928802"/>
            <a:ext cx="8143932" cy="1631216"/>
          </a:xfrm>
          <a:prstGeom prst="rect">
            <a:avLst/>
          </a:prstGeom>
          <a:noFill/>
        </p:spPr>
        <p:txBody>
          <a:bodyPr wrap="square" rtlCol="0">
            <a:spAutoFit/>
          </a:bodyPr>
          <a:lstStyle/>
          <a:p>
            <a:r>
              <a:rPr lang="en-US" sz="2000" dirty="0"/>
              <a:t> </a:t>
            </a:r>
            <a:r>
              <a:rPr lang="en-US" sz="2000" b="1" dirty="0"/>
              <a:t>Taylor series</a:t>
            </a:r>
            <a:r>
              <a:rPr lang="en-US" sz="2000" dirty="0"/>
              <a:t> of a function is an infinite sum of terms that are expressed in terms of the function's derivatives  at a single point. For most common functions, the function and the sum of its Taylor series are equal near this point. Taylor's series are named after Brook Taylor  who introduced them in 1715.</a:t>
            </a:r>
          </a:p>
        </p:txBody>
      </p:sp>
      <p:sp>
        <p:nvSpPr>
          <p:cNvPr id="6" name="Title 3"/>
          <p:cNvSpPr>
            <a:spLocks noGrp="1"/>
          </p:cNvSpPr>
          <p:nvPr>
            <p:ph type="title"/>
          </p:nvPr>
        </p:nvSpPr>
        <p:spPr>
          <a:xfrm>
            <a:off x="707136" y="296110"/>
            <a:ext cx="7729728" cy="1188720"/>
          </a:xfrm>
        </p:spPr>
        <p:txBody>
          <a:bodyPr>
            <a:normAutofit/>
          </a:bodyPr>
          <a:lstStyle/>
          <a:p>
            <a:pPr algn="ctr"/>
            <a:r>
              <a:rPr lang="en-US" sz="3600" b="1" dirty="0">
                <a:solidFill>
                  <a:schemeClr val="accent3">
                    <a:lumMod val="75000"/>
                  </a:schemeClr>
                </a:solidFill>
                <a:latin typeface="Times New Roman" pitchFamily="18" charset="0"/>
                <a:cs typeface="Times New Roman" pitchFamily="18" charset="0"/>
              </a:rPr>
              <a:t>Taylor Series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shot (47).png"/>
          <p:cNvPicPr>
            <a:picLocks noGrp="1" noChangeAspect="1"/>
          </p:cNvPicPr>
          <p:nvPr>
            <p:ph idx="1"/>
          </p:nvPr>
        </p:nvPicPr>
        <p:blipFill>
          <a:blip r:embed="rId2"/>
          <a:srcRect t="27225" r="3517" b="19396"/>
          <a:stretch>
            <a:fillRect/>
          </a:stretch>
        </p:blipFill>
        <p:spPr>
          <a:xfrm>
            <a:off x="0" y="1071546"/>
            <a:ext cx="9144000" cy="4572032"/>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07136" y="296110"/>
            <a:ext cx="7729728" cy="1188720"/>
          </a:xfrm>
        </p:spPr>
        <p:txBody>
          <a:bodyPr>
            <a:noAutofit/>
          </a:bodyPr>
          <a:lstStyle/>
          <a:p>
            <a:pPr algn="ctr"/>
            <a:r>
              <a:rPr lang="en-US" sz="3200" b="1" dirty="0">
                <a:solidFill>
                  <a:schemeClr val="accent3">
                    <a:lumMod val="75000"/>
                  </a:schemeClr>
                </a:solidFill>
                <a:latin typeface="Times New Roman" pitchFamily="18" charset="0"/>
                <a:cs typeface="Times New Roman" pitchFamily="18" charset="0"/>
              </a:rPr>
              <a:t>PRACTICAL APPLICATIONS OF TAYLOR SERIES</a:t>
            </a:r>
          </a:p>
        </p:txBody>
      </p:sp>
      <p:sp>
        <p:nvSpPr>
          <p:cNvPr id="6" name="Content Placeholder 5"/>
          <p:cNvSpPr>
            <a:spLocks noGrp="1"/>
          </p:cNvSpPr>
          <p:nvPr>
            <p:ph idx="1"/>
          </p:nvPr>
        </p:nvSpPr>
        <p:spPr>
          <a:xfrm>
            <a:off x="91587" y="1878008"/>
            <a:ext cx="7766561" cy="4622826"/>
          </a:xfrm>
        </p:spPr>
        <p:txBody>
          <a:bodyPr vert="horz" lIns="91440" tIns="45720" rIns="91440" bIns="45720" rtlCol="0" anchor="t">
            <a:noAutofit/>
          </a:bodyPr>
          <a:lstStyle/>
          <a:p>
            <a:pPr>
              <a:buFont typeface="Wingdings" pitchFamily="2" charset="2"/>
              <a:buChar char="Ø"/>
            </a:pPr>
            <a:r>
              <a:rPr lang="en-US" sz="2400" dirty="0"/>
              <a:t>The Taylor series is used in power flow analysis of electrical power systems (Newton-</a:t>
            </a:r>
            <a:r>
              <a:rPr lang="en-US" sz="2400" dirty="0" err="1"/>
              <a:t>Rapshon</a:t>
            </a:r>
            <a:r>
              <a:rPr lang="en-US" sz="2400" dirty="0"/>
              <a:t> method ).</a:t>
            </a:r>
          </a:p>
          <a:p>
            <a:pPr>
              <a:buFont typeface="Wingdings" pitchFamily="2" charset="2"/>
              <a:buChar char="Ø"/>
            </a:pPr>
            <a:r>
              <a:rPr lang="en-IN" sz="2400" dirty="0"/>
              <a:t>Multivariate</a:t>
            </a:r>
            <a:r>
              <a:rPr lang="en-US" sz="2400" dirty="0"/>
              <a:t> Taylor series is used in different optimization  techniques ; that is you approximate your function as a series of linear or quadratic forms , and then successively iterate on item to find .</a:t>
            </a:r>
          </a:p>
          <a:p>
            <a:pPr>
              <a:buFont typeface="Wingdings" pitchFamily="2" charset="2"/>
              <a:buChar char="Ø"/>
            </a:pPr>
            <a:r>
              <a:rPr lang="en-US" sz="2400" dirty="0"/>
              <a:t>Taylor series is used to find the sum of a series .</a:t>
            </a:r>
          </a:p>
          <a:p>
            <a:pPr>
              <a:buFont typeface="Wingdings" pitchFamily="2" charset="2"/>
              <a:buChar char="Ø"/>
            </a:pPr>
            <a:r>
              <a:rPr lang="en-US" sz="2400" dirty="0"/>
              <a:t>It is used to Evaluate limits .</a:t>
            </a:r>
          </a:p>
          <a:p>
            <a:pPr>
              <a:buFont typeface="Wingdings" pitchFamily="2" charset="2"/>
              <a:buChar char="Ø"/>
            </a:pPr>
            <a:r>
              <a:rPr lang="en-US" sz="2400" dirty="0"/>
              <a:t>It used to approximate funct</a:t>
            </a:r>
            <a:r>
              <a:rPr lang="en-US" sz="2800" dirty="0"/>
              <a:t>ions .  </a:t>
            </a:r>
          </a:p>
        </p:txBody>
      </p:sp>
      <p:pic>
        <p:nvPicPr>
          <p:cNvPr id="5" name="Picture 4" descr="Importance-Of-Practical-Application-In-Engineering-Programs1.png"/>
          <p:cNvPicPr>
            <a:picLocks noChangeAspect="1"/>
          </p:cNvPicPr>
          <p:nvPr/>
        </p:nvPicPr>
        <p:blipFill>
          <a:blip r:embed="rId2" cstate="print"/>
          <a:stretch>
            <a:fillRect/>
          </a:stretch>
        </p:blipFill>
        <p:spPr>
          <a:xfrm>
            <a:off x="5286380" y="4786322"/>
            <a:ext cx="3500462" cy="188733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66325"/>
            <a:ext cx="5028101" cy="5538787"/>
          </a:xfrm>
        </p:spPr>
        <p:txBody>
          <a:bodyPr>
            <a:noAutofit/>
          </a:bodyPr>
          <a:lstStyle/>
          <a:p>
            <a:pPr>
              <a:buFont typeface="Wingdings" pitchFamily="2" charset="2"/>
              <a:buChar char="Ø"/>
            </a:pPr>
            <a:r>
              <a:rPr lang="en-US" sz="3200" dirty="0"/>
              <a:t>In a structural engineering , </a:t>
            </a:r>
            <a:r>
              <a:rPr lang="en-US" sz="3200" dirty="0" err="1"/>
              <a:t>taylor</a:t>
            </a:r>
            <a:r>
              <a:rPr lang="en-US" sz="3200" dirty="0"/>
              <a:t> series is used in the process to find the </a:t>
            </a:r>
            <a:r>
              <a:rPr lang="en-US" sz="3200" dirty="0" err="1"/>
              <a:t>realiability</a:t>
            </a:r>
            <a:r>
              <a:rPr lang="en-US" sz="3200" dirty="0"/>
              <a:t> index using the first order ,second moment , mean value </a:t>
            </a:r>
            <a:r>
              <a:rPr lang="en-US" sz="3200" dirty="0" err="1"/>
              <a:t>realiability</a:t>
            </a:r>
            <a:r>
              <a:rPr lang="en-US" sz="3200" dirty="0"/>
              <a:t> index .</a:t>
            </a:r>
          </a:p>
          <a:p>
            <a:pPr>
              <a:buFont typeface="Wingdings" pitchFamily="2" charset="2"/>
              <a:buChar char="Ø"/>
            </a:pPr>
            <a:r>
              <a:rPr lang="en-US" sz="3200" dirty="0"/>
              <a:t> differential equations are made easy with </a:t>
            </a:r>
            <a:r>
              <a:rPr lang="en-US" sz="3200" dirty="0" err="1"/>
              <a:t>taylor</a:t>
            </a:r>
            <a:r>
              <a:rPr lang="en-US" sz="3200" dirty="0"/>
              <a:t> series.</a:t>
            </a:r>
          </a:p>
          <a:p>
            <a:pPr>
              <a:buFont typeface="Wingdings" pitchFamily="2" charset="2"/>
              <a:buChar char="Ø"/>
            </a:pPr>
            <a:r>
              <a:rPr lang="en-US" sz="3200" dirty="0"/>
              <a:t>It is also used to calculate the value of an entire function at every point .</a:t>
            </a:r>
          </a:p>
        </p:txBody>
      </p:sp>
      <p:pic>
        <p:nvPicPr>
          <p:cNvPr id="3074" name="Picture 2"/>
          <p:cNvPicPr>
            <a:picLocks noChangeAspect="1" noChangeArrowheads="1"/>
          </p:cNvPicPr>
          <p:nvPr/>
        </p:nvPicPr>
        <p:blipFill>
          <a:blip r:embed="rId2"/>
          <a:srcRect/>
          <a:stretch>
            <a:fillRect/>
          </a:stretch>
        </p:blipFill>
        <p:spPr bwMode="auto">
          <a:xfrm>
            <a:off x="5198455" y="1142984"/>
            <a:ext cx="3643338" cy="4572032"/>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7579" y="376972"/>
            <a:ext cx="7815290" cy="771508"/>
          </a:xfrm>
        </p:spPr>
        <p:txBody>
          <a:bodyPr>
            <a:noAutofit/>
          </a:bodyPr>
          <a:lstStyle/>
          <a:p>
            <a:pPr algn="ctr"/>
            <a:r>
              <a:rPr lang="en-US" sz="2800" b="1" dirty="0">
                <a:solidFill>
                  <a:schemeClr val="accent3">
                    <a:lumMod val="75000"/>
                  </a:schemeClr>
                </a:solidFill>
                <a:latin typeface="Times New Roman" pitchFamily="18" charset="0"/>
                <a:cs typeface="Times New Roman" pitchFamily="18" charset="0"/>
              </a:rPr>
              <a:t>PRACTICAL APPLICATIONS OF LAURENT’S SERIES</a:t>
            </a:r>
          </a:p>
        </p:txBody>
      </p:sp>
      <p:pic>
        <p:nvPicPr>
          <p:cNvPr id="2050" name="Picture 2"/>
          <p:cNvPicPr>
            <a:picLocks noGrp="1" noChangeAspect="1" noChangeArrowheads="1"/>
          </p:cNvPicPr>
          <p:nvPr>
            <p:ph idx="1"/>
          </p:nvPr>
        </p:nvPicPr>
        <p:blipFill>
          <a:blip r:embed="rId2"/>
          <a:srcRect/>
          <a:stretch>
            <a:fillRect/>
          </a:stretch>
        </p:blipFill>
        <p:spPr bwMode="auto">
          <a:xfrm>
            <a:off x="6267479" y="2524114"/>
            <a:ext cx="2447925" cy="2362200"/>
          </a:xfrm>
          <a:prstGeom prst="rect">
            <a:avLst/>
          </a:prstGeom>
          <a:noFill/>
          <a:ln w="9525">
            <a:noFill/>
            <a:miter lim="800000"/>
            <a:headEnd/>
            <a:tailEnd/>
          </a:ln>
          <a:effectLst/>
        </p:spPr>
      </p:pic>
      <p:sp>
        <p:nvSpPr>
          <p:cNvPr id="3" name="Content Placeholder 2"/>
          <p:cNvSpPr>
            <a:spLocks noGrp="1"/>
          </p:cNvSpPr>
          <p:nvPr>
            <p:ph type="body" sz="half" idx="2"/>
          </p:nvPr>
        </p:nvSpPr>
        <p:spPr>
          <a:xfrm>
            <a:off x="-91587" y="1419214"/>
            <a:ext cx="5715040" cy="4572000"/>
          </a:xfrm>
        </p:spPr>
        <p:txBody>
          <a:bodyPr>
            <a:noAutofit/>
          </a:bodyPr>
          <a:lstStyle/>
          <a:p>
            <a:pPr>
              <a:buFont typeface="Wingdings" pitchFamily="2" charset="2"/>
              <a:buChar char="Ø"/>
            </a:pPr>
            <a:r>
              <a:rPr lang="en-US" sz="2800" dirty="0"/>
              <a:t>Laurent series is used to describe the analytic function.</a:t>
            </a:r>
          </a:p>
          <a:p>
            <a:pPr>
              <a:buFont typeface="Wingdings" pitchFamily="2" charset="2"/>
              <a:buChar char="Ø"/>
            </a:pPr>
            <a:r>
              <a:rPr lang="en-US" sz="2800" dirty="0"/>
              <a:t>It allows us to work around the singularities of a complex function .</a:t>
            </a:r>
          </a:p>
          <a:p>
            <a:pPr>
              <a:buFont typeface="Wingdings" pitchFamily="2" charset="2"/>
              <a:buChar char="Ø"/>
            </a:pPr>
            <a:r>
              <a:rPr lang="en-US" sz="2800" dirty="0"/>
              <a:t>In mathematics ,the </a:t>
            </a:r>
            <a:r>
              <a:rPr lang="en-US" sz="2800" dirty="0" err="1"/>
              <a:t>laurent</a:t>
            </a:r>
            <a:r>
              <a:rPr lang="en-US" sz="2800" dirty="0"/>
              <a:t> series of a complex function f(z) is a representation of that function as a power series which includes terms of negative degree .it may be used to express complex functions in cases where a </a:t>
            </a:r>
            <a:r>
              <a:rPr lang="en-US" sz="2800" dirty="0" err="1"/>
              <a:t>taylor</a:t>
            </a:r>
            <a:r>
              <a:rPr lang="en-US" sz="2800" dirty="0"/>
              <a:t> series expansion cannot be applied .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48" y="500042"/>
            <a:ext cx="7729728" cy="1188720"/>
          </a:xfrm>
        </p:spPr>
        <p:txBody>
          <a:bodyPr>
            <a:noAutofit/>
          </a:bodyPr>
          <a:lstStyle/>
          <a:p>
            <a:pPr algn="ctr"/>
            <a:r>
              <a:rPr lang="en-US" sz="3600" b="1" dirty="0">
                <a:solidFill>
                  <a:schemeClr val="accent3">
                    <a:lumMod val="75000"/>
                  </a:schemeClr>
                </a:solidFill>
                <a:latin typeface="Times New Roman" pitchFamily="18" charset="0"/>
                <a:cs typeface="Times New Roman" pitchFamily="18" charset="0"/>
              </a:rPr>
              <a:t>APPLICATIONS OF COMPLEX INTEGRAL</a:t>
            </a:r>
          </a:p>
        </p:txBody>
      </p:sp>
      <p:sp>
        <p:nvSpPr>
          <p:cNvPr id="3" name="Content Placeholder 2"/>
          <p:cNvSpPr>
            <a:spLocks noGrp="1"/>
          </p:cNvSpPr>
          <p:nvPr>
            <p:ph idx="1"/>
          </p:nvPr>
        </p:nvSpPr>
        <p:spPr>
          <a:xfrm>
            <a:off x="428596" y="2500306"/>
            <a:ext cx="6150880" cy="3743725"/>
          </a:xfrm>
        </p:spPr>
        <p:txBody>
          <a:bodyPr>
            <a:noAutofit/>
          </a:bodyPr>
          <a:lstStyle/>
          <a:p>
            <a:pPr>
              <a:buFont typeface="Wingdings" pitchFamily="2" charset="2"/>
              <a:buChar char="Ø"/>
            </a:pPr>
            <a:r>
              <a:rPr lang="en-US" sz="2400" dirty="0"/>
              <a:t> Integrals are extremely important in the study of functions of a complex variable mainly for two reason.</a:t>
            </a:r>
          </a:p>
          <a:p>
            <a:pPr>
              <a:buFont typeface="Wingdings" pitchFamily="2" charset="2"/>
              <a:buChar char="Ø"/>
            </a:pPr>
            <a:r>
              <a:rPr lang="en-US" sz="2400" dirty="0"/>
              <a:t>For instance , the existence of higher derivatives of analytic functions .</a:t>
            </a:r>
          </a:p>
          <a:p>
            <a:pPr>
              <a:buFont typeface="Wingdings" pitchFamily="2" charset="2"/>
              <a:buChar char="Ø"/>
            </a:pPr>
            <a:r>
              <a:rPr lang="en-US" sz="2400" dirty="0"/>
              <a:t>Secondly in applications real integrals occur which cannot be evaluated by usual methods , but can be evaluated by complex integration . </a:t>
            </a:r>
          </a:p>
          <a:p>
            <a:pPr>
              <a:buNone/>
            </a:pPr>
            <a:endParaRPr lang="en-US" sz="2400" dirty="0"/>
          </a:p>
        </p:txBody>
      </p:sp>
      <p:pic>
        <p:nvPicPr>
          <p:cNvPr id="4" name="Picture 3" descr="contour_integral2.png"/>
          <p:cNvPicPr>
            <a:picLocks noChangeAspect="1"/>
          </p:cNvPicPr>
          <p:nvPr/>
        </p:nvPicPr>
        <p:blipFill>
          <a:blip r:embed="rId2"/>
          <a:stretch>
            <a:fillRect/>
          </a:stretch>
        </p:blipFill>
        <p:spPr>
          <a:xfrm>
            <a:off x="6500826" y="2786058"/>
            <a:ext cx="2428892" cy="241233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090979" y="1562466"/>
            <a:ext cx="7658100" cy="4399817"/>
          </a:xfrm>
        </p:spPr>
        <p:txBody>
          <a:bodyPr>
            <a:normAutofit/>
          </a:bodyPr>
          <a:lstStyle/>
          <a:p>
            <a:pPr>
              <a:buFont typeface="Wingdings" pitchFamily="2" charset="2"/>
              <a:buChar char="Ø"/>
            </a:pPr>
            <a:r>
              <a:rPr lang="en-US" sz="3200" dirty="0"/>
              <a:t>To Evaluate definite integrals</a:t>
            </a:r>
          </a:p>
          <a:p>
            <a:pPr>
              <a:buFont typeface="Wingdings" pitchFamily="2" charset="2"/>
              <a:buChar char="Ø"/>
            </a:pPr>
            <a:r>
              <a:rPr lang="en-US" sz="3200" dirty="0"/>
              <a:t>Obtaining asymptotic solutions of differentials equations  . </a:t>
            </a:r>
          </a:p>
          <a:p>
            <a:pPr>
              <a:buFont typeface="Wingdings" pitchFamily="2" charset="2"/>
              <a:buChar char="Ø"/>
            </a:pPr>
            <a:r>
              <a:rPr lang="en-US" sz="3200" dirty="0"/>
              <a:t>Many physical quantities that were originally real become complex as simple theory is made from general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1136" y="348028"/>
            <a:ext cx="5600712" cy="1285860"/>
          </a:xfrm>
        </p:spPr>
        <p:txBody>
          <a:bodyPr>
            <a:noAutofit/>
          </a:bodyPr>
          <a:lstStyle/>
          <a:p>
            <a:r>
              <a:rPr lang="en-US" sz="4400" b="1" dirty="0">
                <a:solidFill>
                  <a:schemeClr val="accent3">
                    <a:lumMod val="75000"/>
                  </a:schemeClr>
                </a:solidFill>
                <a:latin typeface="Times New Roman" pitchFamily="18" charset="0"/>
                <a:cs typeface="Times New Roman" pitchFamily="18" charset="0"/>
              </a:rPr>
              <a:t>COUNTOUR</a:t>
            </a:r>
            <a:r>
              <a:rPr lang="en-US" sz="3200" b="1" dirty="0">
                <a:solidFill>
                  <a:schemeClr val="accent3">
                    <a:lumMod val="75000"/>
                  </a:schemeClr>
                </a:solidFill>
                <a:latin typeface="Times New Roman" pitchFamily="18" charset="0"/>
                <a:cs typeface="Times New Roman" pitchFamily="18" charset="0"/>
              </a:rPr>
              <a:t> </a:t>
            </a:r>
            <a:r>
              <a:rPr lang="en-US" sz="4400" b="1" dirty="0">
                <a:solidFill>
                  <a:schemeClr val="accent3">
                    <a:lumMod val="75000"/>
                  </a:schemeClr>
                </a:solidFill>
                <a:latin typeface="Times New Roman" pitchFamily="18" charset="0"/>
                <a:cs typeface="Times New Roman" pitchFamily="18" charset="0"/>
              </a:rPr>
              <a:t>INTEGRATION</a:t>
            </a:r>
          </a:p>
        </p:txBody>
      </p:sp>
      <p:pic>
        <p:nvPicPr>
          <p:cNvPr id="1026" name="Picture 2"/>
          <p:cNvPicPr>
            <a:picLocks noGrp="1" noChangeAspect="1" noChangeArrowheads="1"/>
          </p:cNvPicPr>
          <p:nvPr>
            <p:ph idx="1"/>
          </p:nvPr>
        </p:nvPicPr>
        <p:blipFill>
          <a:blip r:embed="rId2"/>
          <a:srcRect/>
          <a:stretch>
            <a:fillRect/>
          </a:stretch>
        </p:blipFill>
        <p:spPr bwMode="auto">
          <a:xfrm>
            <a:off x="6366363" y="2616999"/>
            <a:ext cx="2390775" cy="1562100"/>
          </a:xfrm>
          <a:prstGeom prst="rect">
            <a:avLst/>
          </a:prstGeom>
          <a:noFill/>
          <a:ln w="9525">
            <a:noFill/>
            <a:miter lim="800000"/>
            <a:headEnd/>
            <a:tailEnd/>
          </a:ln>
          <a:effectLst/>
        </p:spPr>
      </p:pic>
      <p:sp>
        <p:nvSpPr>
          <p:cNvPr id="6" name="Text Placeholder 5"/>
          <p:cNvSpPr>
            <a:spLocks noGrp="1"/>
          </p:cNvSpPr>
          <p:nvPr>
            <p:ph type="body" sz="half" idx="2"/>
          </p:nvPr>
        </p:nvSpPr>
        <p:spPr>
          <a:xfrm>
            <a:off x="386862" y="1714488"/>
            <a:ext cx="4886332" cy="4929222"/>
          </a:xfrm>
        </p:spPr>
        <p:txBody>
          <a:bodyPr>
            <a:normAutofit/>
          </a:bodyPr>
          <a:lstStyle/>
          <a:p>
            <a:r>
              <a:rPr lang="en-US" sz="2800" dirty="0"/>
              <a:t>Contour  integration is the process of calculating the values of a contour  integral around a given contour in the complex plane . As  a  result of a  truly amazing  property of </a:t>
            </a:r>
            <a:r>
              <a:rPr lang="en-US" sz="2800" dirty="0" err="1"/>
              <a:t>holomorphic</a:t>
            </a:r>
            <a:r>
              <a:rPr lang="en-US" sz="2800" dirty="0"/>
              <a:t>  functions , such integrals can be computed easily simply by summing the values of  the  complex  residues  inside  the  contour .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74910" y="937216"/>
            <a:ext cx="7729728" cy="1188720"/>
          </a:xfrm>
        </p:spPr>
        <p:txBody>
          <a:bodyPr>
            <a:noAutofit/>
          </a:bodyPr>
          <a:lstStyle/>
          <a:p>
            <a:pPr algn="ctr"/>
            <a:r>
              <a:rPr lang="en-US" sz="4000" b="1" dirty="0">
                <a:solidFill>
                  <a:schemeClr val="accent3">
                    <a:lumMod val="75000"/>
                  </a:schemeClr>
                </a:solidFill>
                <a:latin typeface="Times New Roman" pitchFamily="18" charset="0"/>
                <a:cs typeface="Times New Roman" pitchFamily="18" charset="0"/>
              </a:rPr>
              <a:t>APPLICATIONS OF CONTOUR INTEGRATION</a:t>
            </a:r>
          </a:p>
        </p:txBody>
      </p:sp>
      <p:sp>
        <p:nvSpPr>
          <p:cNvPr id="6" name="Content Placeholder 5"/>
          <p:cNvSpPr>
            <a:spLocks noGrp="1"/>
          </p:cNvSpPr>
          <p:nvPr>
            <p:ph idx="1"/>
          </p:nvPr>
        </p:nvSpPr>
        <p:spPr>
          <a:xfrm>
            <a:off x="357158" y="2643182"/>
            <a:ext cx="7729728" cy="3101983"/>
          </a:xfrm>
        </p:spPr>
        <p:txBody>
          <a:bodyPr>
            <a:noAutofit/>
          </a:bodyPr>
          <a:lstStyle/>
          <a:p>
            <a:pPr>
              <a:buNone/>
            </a:pPr>
            <a:r>
              <a:rPr lang="en-US" sz="2400" dirty="0"/>
              <a:t>        Contour integration appears in entropy and is the backbone of residue theory that , in turn , finds many well-known applications . They are</a:t>
            </a:r>
          </a:p>
          <a:p>
            <a:pPr>
              <a:buFont typeface="Wingdings" pitchFamily="2" charset="2"/>
              <a:buChar char="Ø"/>
            </a:pPr>
            <a:r>
              <a:rPr lang="en-US" sz="2400" dirty="0"/>
              <a:t>To evaluate some improper integrals </a:t>
            </a:r>
          </a:p>
          <a:p>
            <a:pPr>
              <a:buFont typeface="Wingdings" pitchFamily="2" charset="2"/>
              <a:buChar char="Ø"/>
            </a:pPr>
            <a:r>
              <a:rPr lang="en-US" sz="2400" dirty="0"/>
              <a:t>To evaluate a Fortiori</a:t>
            </a:r>
          </a:p>
          <a:p>
            <a:pPr>
              <a:buFont typeface="Wingdings" pitchFamily="2" charset="2"/>
              <a:buChar char="Ø"/>
            </a:pPr>
            <a:r>
              <a:rPr lang="en-US" sz="2400" dirty="0"/>
              <a:t>To calculate Fourier</a:t>
            </a:r>
          </a:p>
          <a:p>
            <a:pPr>
              <a:buFont typeface="Wingdings" pitchFamily="2" charset="2"/>
              <a:buChar char="Ø"/>
            </a:pPr>
            <a:r>
              <a:rPr lang="en-US" sz="2400" dirty="0"/>
              <a:t>To calculate Laplace and Z transforms </a:t>
            </a:r>
          </a:p>
          <a:p>
            <a:pPr>
              <a:buFont typeface="Wingdings" pitchFamily="2" charset="2"/>
              <a:buChar char="Ø"/>
            </a:pPr>
            <a:r>
              <a:rPr lang="en-US" sz="2400" dirty="0"/>
              <a:t>To evaluate the integrals along the real line .</a:t>
            </a:r>
          </a:p>
        </p:txBody>
      </p:sp>
      <p:pic>
        <p:nvPicPr>
          <p:cNvPr id="4" name="Picture 3" descr="KeyholeContourLeft.png"/>
          <p:cNvPicPr>
            <a:picLocks noChangeAspect="1"/>
          </p:cNvPicPr>
          <p:nvPr/>
        </p:nvPicPr>
        <p:blipFill>
          <a:blip r:embed="rId2"/>
          <a:stretch>
            <a:fillRect/>
          </a:stretch>
        </p:blipFill>
        <p:spPr>
          <a:xfrm>
            <a:off x="6072198" y="3571876"/>
            <a:ext cx="2500330" cy="25003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5102" y="1019644"/>
            <a:ext cx="7729728" cy="1188720"/>
          </a:xfrm>
        </p:spPr>
        <p:txBody>
          <a:bodyPr>
            <a:normAutofit/>
          </a:bodyPr>
          <a:lstStyle/>
          <a:p>
            <a:r>
              <a:rPr lang="en-US" sz="4400" b="1" dirty="0">
                <a:solidFill>
                  <a:schemeClr val="accent3">
                    <a:lumMod val="75000"/>
                  </a:schemeClr>
                </a:solidFill>
                <a:latin typeface="Times New Roman" pitchFamily="18" charset="0"/>
                <a:cs typeface="Times New Roman" pitchFamily="18" charset="0"/>
              </a:rPr>
              <a:t>RESIDUE</a:t>
            </a:r>
          </a:p>
        </p:txBody>
      </p:sp>
      <p:sp>
        <p:nvSpPr>
          <p:cNvPr id="3" name="Content Placeholder 2"/>
          <p:cNvSpPr>
            <a:spLocks noGrp="1"/>
          </p:cNvSpPr>
          <p:nvPr>
            <p:ph idx="1"/>
          </p:nvPr>
        </p:nvSpPr>
        <p:spPr>
          <a:xfrm>
            <a:off x="470754" y="2674680"/>
            <a:ext cx="6101510" cy="3468964"/>
          </a:xfrm>
        </p:spPr>
        <p:txBody>
          <a:bodyPr>
            <a:noAutofit/>
          </a:bodyPr>
          <a:lstStyle/>
          <a:p>
            <a:pPr>
              <a:buNone/>
            </a:pPr>
            <a:r>
              <a:rPr lang="en-US" sz="2800" dirty="0"/>
              <a:t>           In a mathematics, more </a:t>
            </a:r>
            <a:r>
              <a:rPr lang="en-US" sz="2800" dirty="0" err="1"/>
              <a:t>speifically</a:t>
            </a:r>
            <a:r>
              <a:rPr lang="en-US" sz="2800" dirty="0"/>
              <a:t> complex analysis , the residue is a complex number proportional to the contour integral of a </a:t>
            </a:r>
            <a:r>
              <a:rPr lang="en-US" sz="2800" dirty="0" err="1"/>
              <a:t>meromorphic</a:t>
            </a:r>
            <a:r>
              <a:rPr lang="en-US" sz="2800" dirty="0"/>
              <a:t> function along a path enclosing one of its </a:t>
            </a:r>
            <a:r>
              <a:rPr lang="en-US" sz="2800" dirty="0" err="1"/>
              <a:t>singularties</a:t>
            </a:r>
            <a:r>
              <a:rPr lang="en-US" sz="2800" dirty="0"/>
              <a:t>.(more generally , residues can be calculated for any function .</a:t>
            </a:r>
          </a:p>
        </p:txBody>
      </p:sp>
      <p:pic>
        <p:nvPicPr>
          <p:cNvPr id="4" name="Picture 3" descr="220px-ResidueCurvesPrinciple.png"/>
          <p:cNvPicPr>
            <a:picLocks noChangeAspect="1"/>
          </p:cNvPicPr>
          <p:nvPr/>
        </p:nvPicPr>
        <p:blipFill>
          <a:blip r:embed="rId2"/>
          <a:stretch>
            <a:fillRect/>
          </a:stretch>
        </p:blipFill>
        <p:spPr>
          <a:xfrm>
            <a:off x="6143636" y="4786321"/>
            <a:ext cx="2786082" cy="192492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136" y="191555"/>
            <a:ext cx="7729728" cy="1188720"/>
          </a:xfrm>
        </p:spPr>
        <p:txBody>
          <a:bodyPr>
            <a:normAutofit/>
          </a:bodyPr>
          <a:lstStyle/>
          <a:p>
            <a:r>
              <a:rPr lang="en-US" sz="3600" b="1" dirty="0">
                <a:solidFill>
                  <a:schemeClr val="accent3">
                    <a:lumMod val="75000"/>
                  </a:schemeClr>
                </a:solidFill>
                <a:latin typeface="Times New Roman" pitchFamily="18" charset="0"/>
                <a:cs typeface="Times New Roman" pitchFamily="18" charset="0"/>
              </a:rPr>
              <a:t>APPLICATIONS OF RESIDUES</a:t>
            </a:r>
          </a:p>
        </p:txBody>
      </p:sp>
      <p:sp>
        <p:nvSpPr>
          <p:cNvPr id="3" name="Content Placeholder 2"/>
          <p:cNvSpPr>
            <a:spLocks noGrp="1"/>
          </p:cNvSpPr>
          <p:nvPr>
            <p:ph idx="1"/>
          </p:nvPr>
        </p:nvSpPr>
        <p:spPr>
          <a:xfrm>
            <a:off x="571472" y="1714488"/>
            <a:ext cx="7729728" cy="3579906"/>
          </a:xfrm>
        </p:spPr>
        <p:txBody>
          <a:bodyPr>
            <a:noAutofit/>
          </a:bodyPr>
          <a:lstStyle/>
          <a:p>
            <a:pPr>
              <a:buFont typeface="Wingdings" pitchFamily="2" charset="2"/>
              <a:buChar char="Ø"/>
            </a:pPr>
            <a:r>
              <a:rPr lang="en-US" sz="2400" dirty="0"/>
              <a:t>Evaluation of definite and improper integrals </a:t>
            </a:r>
            <a:r>
              <a:rPr lang="en-US" sz="2400" dirty="0" err="1"/>
              <a:t>occuring</a:t>
            </a:r>
            <a:r>
              <a:rPr lang="en-US" sz="2400" dirty="0"/>
              <a:t>  in real analysis and applied math .</a:t>
            </a:r>
          </a:p>
          <a:p>
            <a:pPr>
              <a:buFont typeface="Wingdings" pitchFamily="2" charset="2"/>
              <a:buChar char="Ø"/>
            </a:pPr>
            <a:r>
              <a:rPr lang="en-US" sz="2400" dirty="0"/>
              <a:t>Finding inverse Laplace transform by the methods of summing residues .</a:t>
            </a:r>
          </a:p>
          <a:p>
            <a:pPr>
              <a:buFont typeface="Wingdings" pitchFamily="2" charset="2"/>
              <a:buChar char="Ø"/>
            </a:pPr>
            <a:r>
              <a:rPr lang="en-US" sz="2400" dirty="0"/>
              <a:t>Functional Analysis</a:t>
            </a:r>
          </a:p>
          <a:p>
            <a:pPr>
              <a:buFont typeface="Wingdings" pitchFamily="2" charset="2"/>
              <a:buChar char="Ø"/>
            </a:pPr>
            <a:r>
              <a:rPr lang="en-US" sz="2400" dirty="0"/>
              <a:t>Linear Algebra</a:t>
            </a:r>
          </a:p>
          <a:p>
            <a:pPr>
              <a:buFont typeface="Wingdings" pitchFamily="2" charset="2"/>
              <a:buChar char="Ø"/>
            </a:pPr>
            <a:r>
              <a:rPr lang="en-US" sz="2400" dirty="0"/>
              <a:t>Analytic number theory</a:t>
            </a:r>
          </a:p>
          <a:p>
            <a:pPr>
              <a:buFont typeface="Wingdings" pitchFamily="2" charset="2"/>
              <a:buChar char="Ø"/>
            </a:pPr>
            <a:r>
              <a:rPr lang="en-US" sz="2400" dirty="0"/>
              <a:t>Quantum number theory</a:t>
            </a:r>
          </a:p>
          <a:p>
            <a:pPr>
              <a:buFont typeface="Wingdings" pitchFamily="2" charset="2"/>
              <a:buChar char="Ø"/>
            </a:pPr>
            <a:r>
              <a:rPr lang="en-US" sz="2400" dirty="0"/>
              <a:t>Algebraic geometry</a:t>
            </a:r>
          </a:p>
          <a:p>
            <a:pPr>
              <a:buFont typeface="Wingdings" pitchFamily="2" charset="2"/>
              <a:buChar char="Ø"/>
            </a:pPr>
            <a:r>
              <a:rPr lang="en-US" sz="2400" dirty="0" err="1"/>
              <a:t>Abelian</a:t>
            </a:r>
            <a:r>
              <a:rPr lang="en-US" sz="2400" dirty="0"/>
              <a:t> integrals</a:t>
            </a:r>
          </a:p>
          <a:p>
            <a:pPr>
              <a:buFont typeface="Wingdings" pitchFamily="2" charset="2"/>
              <a:buChar char="Ø"/>
            </a:pPr>
            <a:endParaRPr lang="en-US" sz="2400" dirty="0"/>
          </a:p>
        </p:txBody>
      </p:sp>
      <p:pic>
        <p:nvPicPr>
          <p:cNvPr id="4" name="Picture 3" descr="1200px-Gamma_abs_3D.png"/>
          <p:cNvPicPr>
            <a:picLocks noChangeAspect="1"/>
          </p:cNvPicPr>
          <p:nvPr/>
        </p:nvPicPr>
        <p:blipFill>
          <a:blip r:embed="rId2"/>
          <a:stretch>
            <a:fillRect/>
          </a:stretch>
        </p:blipFill>
        <p:spPr>
          <a:xfrm>
            <a:off x="4572000" y="3357562"/>
            <a:ext cx="4090702" cy="319756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76996" y="1319213"/>
            <a:ext cx="7729538" cy="5538787"/>
          </a:xfrm>
        </p:spPr>
        <p:txBody>
          <a:bodyPr>
            <a:normAutofit/>
          </a:bodyPr>
          <a:lstStyle/>
          <a:p>
            <a:pPr>
              <a:buFont typeface="Wingdings" pitchFamily="2" charset="2"/>
              <a:buChar char="Ø"/>
            </a:pPr>
            <a:r>
              <a:rPr lang="en-US" sz="2800" dirty="0"/>
              <a:t>Dynamical systems</a:t>
            </a:r>
          </a:p>
          <a:p>
            <a:pPr>
              <a:buFont typeface="Wingdings" pitchFamily="2" charset="2"/>
              <a:buChar char="Ø"/>
            </a:pPr>
            <a:r>
              <a:rPr lang="en-US" sz="2800" dirty="0"/>
              <a:t>It is a powerful tool to Evaluate line integrals of Analytic functions over closed curves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bigstock-Paper-Ribbon-With-Text-Thank-Y-319970668.jpg"/>
          <p:cNvPicPr>
            <a:picLocks noGrp="1" noChangeAspect="1"/>
          </p:cNvPicPr>
          <p:nvPr>
            <p:ph idx="4294967295"/>
          </p:nvPr>
        </p:nvPicPr>
        <p:blipFill>
          <a:blip r:embed="rId2"/>
          <a:stretch>
            <a:fillRect/>
          </a:stretch>
        </p:blipFill>
        <p:spPr>
          <a:xfrm>
            <a:off x="0" y="0"/>
            <a:ext cx="9146868" cy="6858000"/>
          </a:xfrm>
        </p:spPr>
      </p:pic>
    </p:spTree>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Metro</Template>
  <TotalTime>419</TotalTime>
  <Words>537</Words>
  <Application>Microsoft Office PowerPoint</Application>
  <PresentationFormat>On-screen Show (4:3)</PresentationFormat>
  <Paragraphs>56</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Parcel</vt:lpstr>
      <vt:lpstr>ENGINEERING MATHEMATICS MINI PROJECT </vt:lpstr>
      <vt:lpstr>APPLICATION COMPLEX INTEGRATION</vt:lpstr>
      <vt:lpstr>Taylor Series</vt:lpstr>
      <vt:lpstr>PowerPoint Presentation</vt:lpstr>
      <vt:lpstr>PRACTICAL APPLICATIONS OF TAYLOR SERIES</vt:lpstr>
      <vt:lpstr>PowerPoint Presentation</vt:lpstr>
      <vt:lpstr>PRACTICAL APPLICATIONS OF LAURENT’S SERIES</vt:lpstr>
      <vt:lpstr>APPLICATIONS OF COMPLEX INTEGRAL</vt:lpstr>
      <vt:lpstr>PowerPoint Presentation</vt:lpstr>
      <vt:lpstr>COUNTOUR INTEGRATION</vt:lpstr>
      <vt:lpstr>APPLICATIONS OF CONTOUR INTEGRATION</vt:lpstr>
      <vt:lpstr>RESIDUE</vt:lpstr>
      <vt:lpstr>APPLICATIONS OF RESIDUES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MATHEMATICS MINI PROJECT UNIT 4 </dc:title>
  <dc:creator>Velu</dc:creator>
  <cp:lastModifiedBy>Mahesh Chowdary</cp:lastModifiedBy>
  <cp:revision>38</cp:revision>
  <dcterms:created xsi:type="dcterms:W3CDTF">2021-06-27T10:12:29Z</dcterms:created>
  <dcterms:modified xsi:type="dcterms:W3CDTF">2021-07-09T14:13:42Z</dcterms:modified>
</cp:coreProperties>
</file>